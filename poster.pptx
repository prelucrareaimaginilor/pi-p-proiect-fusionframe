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33" d="100"/>
          <a:sy n="33" d="100"/>
        </p:scale>
        <p:origin x="1656" y="-2528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688103931142663E-2"/>
          <c:y val="1.6887922948327323E-2"/>
          <c:w val="0.91072530389008632"/>
          <c:h val="0.869165028454083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Thresholding and Otsu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Pixel Accuracy</c:v>
                </c:pt>
                <c:pt idx="1">
                  <c:v>Intersection over Union</c:v>
                </c:pt>
                <c:pt idx="2">
                  <c:v>Precision</c:v>
                </c:pt>
                <c:pt idx="3">
                  <c:v>Recall</c:v>
                </c:pt>
                <c:pt idx="4">
                  <c:v>F-measure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0.74170000000000003</c:v>
                </c:pt>
                <c:pt idx="1">
                  <c:v>0.84530000000000005</c:v>
                </c:pt>
                <c:pt idx="2">
                  <c:v>0.25530000000000003</c:v>
                </c:pt>
                <c:pt idx="3">
                  <c:v>0.64410000000000001</c:v>
                </c:pt>
                <c:pt idx="4">
                  <c:v>0.84530000000000005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8-45A1-AAF2-3024CFB617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Watershed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Pixel Accuracy</c:v>
                </c:pt>
                <c:pt idx="1">
                  <c:v>Intersection over Union</c:v>
                </c:pt>
                <c:pt idx="2">
                  <c:v>Precision</c:v>
                </c:pt>
                <c:pt idx="3">
                  <c:v>Recall</c:v>
                </c:pt>
                <c:pt idx="4">
                  <c:v>F-measure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9.1600000000000001E-2</c:v>
                </c:pt>
                <c:pt idx="1">
                  <c:v>1.0500000000000001E-2</c:v>
                </c:pt>
                <c:pt idx="2">
                  <c:v>6.0000000000000001E-3</c:v>
                </c:pt>
                <c:pt idx="3">
                  <c:v>0.16900000000000001</c:v>
                </c:pt>
                <c:pt idx="4">
                  <c:v>1.0500000000000001E-2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98-45A1-AAF2-3024CFB617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Clustering with K-means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Pixel Accuracy</c:v>
                </c:pt>
                <c:pt idx="1">
                  <c:v>Intersection over Union</c:v>
                </c:pt>
                <c:pt idx="2">
                  <c:v>Precision</c:v>
                </c:pt>
                <c:pt idx="3">
                  <c:v>Recall</c:v>
                </c:pt>
                <c:pt idx="4">
                  <c:v>F-measure</c:v>
                </c:pt>
              </c:strCache>
            </c:strRef>
          </c:cat>
          <c:val>
            <c:numRef>
              <c:f>Sheet1!$D$2:$D$6</c:f>
              <c:numCache>
                <c:formatCode>0.00%</c:formatCode>
                <c:ptCount val="5"/>
                <c:pt idx="0">
                  <c:v>0.1517</c:v>
                </c:pt>
                <c:pt idx="1">
                  <c:v>0.14410000000000001</c:v>
                </c:pt>
                <c:pt idx="2">
                  <c:v>0.4985</c:v>
                </c:pt>
                <c:pt idx="3">
                  <c:v>0.1321</c:v>
                </c:pt>
                <c:pt idx="4">
                  <c:v>0.14415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98-45A1-AAF2-3024CFB617C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Region Growing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Pixel Accuracy</c:v>
                </c:pt>
                <c:pt idx="1">
                  <c:v>Intersection over Union</c:v>
                </c:pt>
                <c:pt idx="2">
                  <c:v>Precision</c:v>
                </c:pt>
                <c:pt idx="3">
                  <c:v>Recall</c:v>
                </c:pt>
                <c:pt idx="4">
                  <c:v>F-measure</c:v>
                </c:pt>
              </c:strCache>
            </c:strRef>
          </c:cat>
          <c:val>
            <c:numRef>
              <c:f>Sheet1!$E$2:$E$6</c:f>
              <c:numCache>
                <c:formatCode>0.00%</c:formatCode>
                <c:ptCount val="5"/>
                <c:pt idx="0">
                  <c:v>8.9999999999999993E-3</c:v>
                </c:pt>
                <c:pt idx="1">
                  <c:v>1.0500000000000001E-2</c:v>
                </c:pt>
                <c:pt idx="2">
                  <c:v>6.0000000000000001E-3</c:v>
                </c:pt>
                <c:pt idx="3">
                  <c:v>0.16969999999999999</c:v>
                </c:pt>
                <c:pt idx="4">
                  <c:v>1.0500000000000001E-2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198-45A1-AAF2-3024CFB617C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Region Splitting and Mearging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Pixel Accuracy</c:v>
                </c:pt>
                <c:pt idx="1">
                  <c:v>Intersection over Union</c:v>
                </c:pt>
                <c:pt idx="2">
                  <c:v>Precision</c:v>
                </c:pt>
                <c:pt idx="3">
                  <c:v>Recall</c:v>
                </c:pt>
                <c:pt idx="4">
                  <c:v>F-measure</c:v>
                </c:pt>
              </c:strCache>
            </c:strRef>
          </c:cat>
          <c:val>
            <c:numRef>
              <c:f>Sheet1!$F$2:$F$6</c:f>
              <c:numCache>
                <c:formatCode>0.00%</c:formatCode>
                <c:ptCount val="5"/>
                <c:pt idx="0">
                  <c:v>6.0000000000000001E-3</c:v>
                </c:pt>
                <c:pt idx="1">
                  <c:v>0</c:v>
                </c:pt>
                <c:pt idx="2">
                  <c:v>0.2402</c:v>
                </c:pt>
                <c:pt idx="3">
                  <c:v>4.3499999999999997E-2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98-45A1-AAF2-3024CFB61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015151"/>
        <c:axId val="70013711"/>
      </c:barChart>
      <c:catAx>
        <c:axId val="7001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70013711"/>
        <c:crosses val="autoZero"/>
        <c:auto val="1"/>
        <c:lblAlgn val="ctr"/>
        <c:lblOffset val="100"/>
        <c:noMultiLvlLbl val="0"/>
      </c:catAx>
      <c:valAx>
        <c:axId val="70013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7001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o-R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chart" Target="../charts/chart1.xml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668964"/>
            <a:ext cx="21117102" cy="204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o-RO" sz="7600" b="1" dirty="0">
                <a:solidFill>
                  <a:schemeClr val="bg1"/>
                </a:solidFill>
                <a:latin typeface="+mn-lt"/>
              </a:rPr>
              <a:t>Segmentarea celulelor în imagini medicale</a:t>
            </a:r>
            <a:endParaRPr lang="en-US" sz="7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47779" y="2653655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o-RO" sz="4600" dirty="0">
                <a:solidFill>
                  <a:schemeClr val="bg1"/>
                </a:solidFill>
                <a:latin typeface="+mn-lt"/>
              </a:rPr>
              <a:t>Echipa </a:t>
            </a:r>
            <a:r>
              <a:rPr lang="ro-RO" sz="4600" dirty="0" err="1">
                <a:solidFill>
                  <a:schemeClr val="bg1"/>
                </a:solidFill>
                <a:latin typeface="+mn-lt"/>
              </a:rPr>
              <a:t>FusionFrame</a:t>
            </a:r>
            <a:endParaRPr lang="ro-RO" sz="4600" dirty="0">
              <a:solidFill>
                <a:schemeClr val="bg1"/>
              </a:solidFill>
              <a:latin typeface="+mn-lt"/>
            </a:endParaRPr>
          </a:p>
          <a:p>
            <a:pPr algn="ctr" eaLnBrk="1" hangingPunct="1"/>
            <a:r>
              <a:rPr lang="en-US" sz="4600" dirty="0" err="1">
                <a:solidFill>
                  <a:schemeClr val="bg1"/>
                </a:solidFill>
                <a:latin typeface="+mn-lt"/>
              </a:rPr>
              <a:t>Universitatea</a:t>
            </a:r>
            <a:r>
              <a:rPr lang="en-US" sz="4600" dirty="0">
                <a:solidFill>
                  <a:schemeClr val="bg1"/>
                </a:solidFill>
                <a:latin typeface="+mn-lt"/>
              </a:rPr>
              <a:t> “Gheorghe </a:t>
            </a:r>
            <a:r>
              <a:rPr lang="en-US" sz="4600" dirty="0" err="1">
                <a:solidFill>
                  <a:schemeClr val="bg1"/>
                </a:solidFill>
                <a:latin typeface="+mn-lt"/>
              </a:rPr>
              <a:t>Asachi</a:t>
            </a:r>
            <a:r>
              <a:rPr lang="en-US" sz="4600" dirty="0">
                <a:solidFill>
                  <a:schemeClr val="bg1"/>
                </a:solidFill>
                <a:latin typeface="+mn-lt"/>
              </a:rPr>
              <a:t>”,</a:t>
            </a:r>
            <a:r>
              <a:rPr lang="en-US" sz="4600" dirty="0" err="1">
                <a:solidFill>
                  <a:schemeClr val="bg1"/>
                </a:solidFill>
                <a:latin typeface="+mn-lt"/>
              </a:rPr>
              <a:t>Iași</a:t>
            </a:r>
            <a:endParaRPr lang="en-US" sz="4600" dirty="0">
              <a:solidFill>
                <a:schemeClr val="bg1"/>
              </a:solidFill>
              <a:latin typeface="+mn-lt"/>
            </a:endParaRPr>
          </a:p>
          <a:p>
            <a:pPr algn="ctr" eaLnBrk="1" hangingPunct="1"/>
            <a:r>
              <a:rPr lang="en-US" sz="4600" dirty="0" err="1">
                <a:solidFill>
                  <a:schemeClr val="bg1"/>
                </a:solidFill>
                <a:latin typeface="+mn-lt"/>
              </a:rPr>
              <a:t>Facultatea</a:t>
            </a:r>
            <a:r>
              <a:rPr lang="en-US" sz="4600" dirty="0">
                <a:solidFill>
                  <a:schemeClr val="bg1"/>
                </a:solidFill>
                <a:latin typeface="+mn-lt"/>
              </a:rPr>
              <a:t> de </a:t>
            </a:r>
            <a:r>
              <a:rPr lang="en-US" sz="4600" dirty="0" err="1">
                <a:solidFill>
                  <a:schemeClr val="bg1"/>
                </a:solidFill>
                <a:latin typeface="+mn-lt"/>
              </a:rPr>
              <a:t>Automatică</a:t>
            </a:r>
            <a:r>
              <a:rPr lang="en-US" sz="46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4600" dirty="0" err="1">
                <a:solidFill>
                  <a:schemeClr val="bg1"/>
                </a:solidFill>
                <a:latin typeface="+mn-lt"/>
              </a:rPr>
              <a:t>și</a:t>
            </a:r>
            <a:r>
              <a:rPr lang="en-US" sz="46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4600" dirty="0" err="1">
                <a:solidFill>
                  <a:schemeClr val="bg1"/>
                </a:solidFill>
                <a:latin typeface="+mn-lt"/>
              </a:rPr>
              <a:t>Calculatoare</a:t>
            </a:r>
            <a:endParaRPr lang="en-US" sz="4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1"/>
            <a:ext cx="8197578" cy="5494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 err="1"/>
              <a:t>Studen</a:t>
            </a:r>
            <a:r>
              <a:rPr lang="ro-RO" sz="3000" dirty="0"/>
              <a:t>ții </a:t>
            </a:r>
            <a:r>
              <a:rPr lang="en-US" sz="3000" dirty="0"/>
              <a:t>Agavriloaei Marina</a:t>
            </a:r>
            <a:r>
              <a:rPr lang="ro-RO" sz="3000" dirty="0"/>
              <a:t> și </a:t>
            </a:r>
            <a:r>
              <a:rPr lang="ro-RO" sz="3000" dirty="0" err="1"/>
              <a:t>Moisuc</a:t>
            </a:r>
            <a:r>
              <a:rPr lang="ro-RO" sz="3000" dirty="0"/>
              <a:t> Raluca Elena</a:t>
            </a:r>
            <a:endParaRPr lang="en-US" sz="3000" dirty="0"/>
          </a:p>
        </p:txBody>
      </p:sp>
      <p:sp>
        <p:nvSpPr>
          <p:cNvPr id="25" name="TextBox 24"/>
          <p:cNvSpPr txBox="1"/>
          <p:nvPr/>
        </p:nvSpPr>
        <p:spPr>
          <a:xfrm>
            <a:off x="1261136" y="37890733"/>
            <a:ext cx="5538325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ro-RO" sz="5400" b="1" dirty="0"/>
              <a:t>Proiect realizat de</a:t>
            </a:r>
            <a:r>
              <a:rPr lang="en-US" sz="5400" b="1" dirty="0"/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33638" y="39049741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ro-RO" sz="1600" b="1" dirty="0"/>
              <a:t>2018 </a:t>
            </a:r>
            <a:r>
              <a:rPr lang="ro-RO" sz="1600" b="1" dirty="0" err="1"/>
              <a:t>Kaggle</a:t>
            </a:r>
            <a:r>
              <a:rPr lang="ro-RO" sz="1600" b="1" dirty="0"/>
              <a:t> Data </a:t>
            </a:r>
            <a:r>
              <a:rPr lang="ro-RO" sz="1600" b="1" dirty="0" err="1"/>
              <a:t>Science</a:t>
            </a:r>
            <a:r>
              <a:rPr lang="ro-RO" sz="1600" b="1" dirty="0"/>
              <a:t> </a:t>
            </a:r>
            <a:r>
              <a:rPr lang="ro-RO" sz="1600" b="1" dirty="0" err="1"/>
              <a:t>Bow</a:t>
            </a:r>
            <a:r>
              <a:rPr lang="en-US" sz="1600" b="1" dirty="0"/>
              <a:t>:</a:t>
            </a:r>
            <a:r>
              <a:rPr lang="en-US" sz="1600" dirty="0"/>
              <a:t>https://www.kaggle.com/competitions/data-science-bowl-2018/data 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 err="1"/>
              <a:t>R.C.Gonzales</a:t>
            </a:r>
            <a:r>
              <a:rPr lang="en-US" sz="1600" dirty="0"/>
              <a:t>, </a:t>
            </a:r>
            <a:r>
              <a:rPr lang="en-US" sz="1600" dirty="0" err="1"/>
              <a:t>R.E.Woods</a:t>
            </a:r>
            <a:r>
              <a:rPr lang="en-US" sz="1600" dirty="0"/>
              <a:t>, Digital Image Processing – 4-th Edition, Pearson, 2018</a:t>
            </a:r>
          </a:p>
          <a:p>
            <a:r>
              <a:rPr lang="en-US" sz="1600" dirty="0"/>
              <a:t>  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5133638" y="37890733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681515" y="7132373"/>
            <a:ext cx="8407576" cy="429081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450000" algn="just" eaLnBrk="1" hangingPunct="1"/>
            <a:r>
              <a:rPr lang="ro-RO" sz="3200" dirty="0">
                <a:latin typeface="Calibri" pitchFamily="34" charset="0"/>
              </a:rPr>
              <a:t>În contextul medical, segmentarea precisă a celulelor este esențială pentru diagnosticul automatizat și pentru înțelegerea proceselor biologice. </a:t>
            </a:r>
          </a:p>
          <a:p>
            <a:pPr indent="450000" algn="just" eaLnBrk="1" hangingPunct="1"/>
            <a:endParaRPr lang="ro-RO" sz="3200" dirty="0">
              <a:latin typeface="Calibri" pitchFamily="34" charset="0"/>
            </a:endParaRPr>
          </a:p>
          <a:p>
            <a:pPr indent="450000" algn="just" eaLnBrk="1" hangingPunct="1"/>
            <a:r>
              <a:rPr lang="ro-RO" sz="3200" dirty="0">
                <a:latin typeface="Calibri" pitchFamily="34" charset="0"/>
              </a:rPr>
              <a:t>Întrucât segmentarea manuală este consumatoare de timp și predispusă la erori, algoritmii automați oferă o soluție eficientă.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1515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Introducere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643781" y="118721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Obiectiv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643781" y="17663319"/>
            <a:ext cx="8407576" cy="847657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o-RO" sz="2400" b="1" dirty="0"/>
              <a:t>2018 </a:t>
            </a:r>
            <a:r>
              <a:rPr lang="ro-RO" sz="2400" b="1" dirty="0" err="1"/>
              <a:t>Kaggle</a:t>
            </a:r>
            <a:r>
              <a:rPr lang="ro-RO" sz="2400" b="1" dirty="0"/>
              <a:t> Data </a:t>
            </a:r>
            <a:r>
              <a:rPr lang="ro-RO" sz="2400" b="1" dirty="0" err="1"/>
              <a:t>Science</a:t>
            </a:r>
            <a:r>
              <a:rPr lang="ro-RO" sz="2400" b="1" dirty="0"/>
              <a:t> </a:t>
            </a:r>
            <a:r>
              <a:rPr lang="ro-RO" sz="2400" b="1" dirty="0" err="1"/>
              <a:t>Bow</a:t>
            </a:r>
            <a:endParaRPr lang="ro-RO" sz="2400" b="1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/>
              <a:t>cel</a:t>
            </a:r>
            <a:r>
              <a:rPr lang="ro-RO" sz="2400" dirty="0" err="1"/>
              <a:t>elule</a:t>
            </a:r>
            <a:r>
              <a:rPr lang="en-US" sz="2400" dirty="0"/>
              <a:t> </a:t>
            </a:r>
            <a:r>
              <a:rPr lang="ro-RO" sz="2400" dirty="0"/>
              <a:t>în imagini microscopice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ro-RO" sz="2400" dirty="0">
                <a:latin typeface="Calibri" pitchFamily="34" charset="0"/>
              </a:rPr>
              <a:t>666 imagini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ro-RO" sz="2400" dirty="0">
                <a:latin typeface="Calibri" pitchFamily="34" charset="0"/>
              </a:rPr>
              <a:t>format RGB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ro-RO" sz="2400" dirty="0">
              <a:latin typeface="Calibri" pitchFamily="34" charset="0"/>
            </a:endParaRPr>
          </a:p>
          <a:p>
            <a:pPr algn="ctr" eaLnBrk="1" hangingPunct="1"/>
            <a:r>
              <a:rPr lang="ro-RO" sz="2400" dirty="0">
                <a:latin typeface="Calibri" pitchFamily="34" charset="0"/>
              </a:rPr>
              <a:t>Figura 1: 2018 </a:t>
            </a:r>
            <a:r>
              <a:rPr lang="ro-RO" sz="2400" dirty="0" err="1">
                <a:latin typeface="Calibri" pitchFamily="34" charset="0"/>
              </a:rPr>
              <a:t>Kaggle</a:t>
            </a:r>
            <a:r>
              <a:rPr lang="ro-RO" sz="2400" dirty="0">
                <a:latin typeface="Calibri" pitchFamily="34" charset="0"/>
              </a:rPr>
              <a:t> Data </a:t>
            </a:r>
            <a:r>
              <a:rPr lang="ro-RO" sz="2400" dirty="0" err="1">
                <a:latin typeface="Calibri" pitchFamily="34" charset="0"/>
              </a:rPr>
              <a:t>Science</a:t>
            </a:r>
            <a:r>
              <a:rPr lang="ro-RO" sz="2400" dirty="0">
                <a:latin typeface="Calibri" pitchFamily="34" charset="0"/>
              </a:rPr>
              <a:t> </a:t>
            </a:r>
            <a:r>
              <a:rPr lang="ro-RO" sz="2400" dirty="0" err="1">
                <a:latin typeface="Calibri" pitchFamily="34" charset="0"/>
              </a:rPr>
              <a:t>Bow</a:t>
            </a:r>
            <a:r>
              <a:rPr lang="ro-RO" sz="2400" dirty="0">
                <a:latin typeface="Calibri" pitchFamily="34" charset="0"/>
              </a:rPr>
              <a:t> </a:t>
            </a:r>
            <a:r>
              <a:rPr lang="ro-RO" sz="2400" dirty="0" err="1">
                <a:latin typeface="Calibri" pitchFamily="34" charset="0"/>
              </a:rPr>
              <a:t>dataset</a:t>
            </a:r>
            <a:endParaRPr lang="ro-RO" sz="2400" dirty="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43781" y="167489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Set de date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1195596" y="17739519"/>
            <a:ext cx="8407576" cy="312126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000" dirty="0">
                <a:latin typeface="Calibri" pitchFamily="34" charset="0"/>
              </a:rPr>
              <a:t>Soluții</a:t>
            </a:r>
            <a:r>
              <a:rPr lang="en-US" sz="3000" dirty="0">
                <a:latin typeface="Calibri" pitchFamily="34" charset="0"/>
              </a:rPr>
              <a:t>: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Thresholding and Otsu 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Watershed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Clustering with K-means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Region Growing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Region Splitting and Merging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89752" y="168251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Segmentarea celulelor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20213461" y="30332138"/>
            <a:ext cx="8407576" cy="4506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Calibri" pitchFamily="34" charset="0"/>
              </a:rPr>
              <a:t>Metoda </a:t>
            </a:r>
            <a:r>
              <a:rPr lang="ro-RO" sz="3000" dirty="0" err="1">
                <a:latin typeface="Calibri" pitchFamily="34" charset="0"/>
              </a:rPr>
              <a:t>Thresholding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and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Otsu</a:t>
            </a:r>
            <a:r>
              <a:rPr lang="ro-RO" sz="3000" dirty="0">
                <a:latin typeface="Calibri" pitchFamily="34" charset="0"/>
              </a:rPr>
              <a:t>  a oferit cele mai bune rezultate generale, cu o precizie înaltă și un echilibru excelent între </a:t>
            </a:r>
            <a:r>
              <a:rPr lang="ro-RO" sz="3000" dirty="0" err="1">
                <a:latin typeface="Calibri" pitchFamily="34" charset="0"/>
              </a:rPr>
              <a:t>recall</a:t>
            </a:r>
            <a:r>
              <a:rPr lang="ro-RO" sz="3000" dirty="0">
                <a:latin typeface="Calibri" pitchFamily="34" charset="0"/>
              </a:rPr>
              <a:t> și precizie.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Calibri" pitchFamily="34" charset="0"/>
              </a:rPr>
              <a:t>Metoda </a:t>
            </a:r>
            <a:r>
              <a:rPr lang="ro-RO" sz="3000" dirty="0" err="1">
                <a:latin typeface="Calibri" pitchFamily="34" charset="0"/>
              </a:rPr>
              <a:t>Clustering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with</a:t>
            </a:r>
            <a:r>
              <a:rPr lang="ro-RO" sz="3000" dirty="0">
                <a:latin typeface="Calibri" pitchFamily="34" charset="0"/>
              </a:rPr>
              <a:t> K-</a:t>
            </a:r>
            <a:r>
              <a:rPr lang="ro-RO" sz="3000" dirty="0" err="1">
                <a:latin typeface="Calibri" pitchFamily="34" charset="0"/>
              </a:rPr>
              <a:t>means</a:t>
            </a:r>
            <a:r>
              <a:rPr lang="ro-RO" sz="3000" dirty="0">
                <a:latin typeface="Calibri" pitchFamily="34" charset="0"/>
              </a:rPr>
              <a:t>  s-a remarcat printr-o bună acuratețe și valori competitive pentru </a:t>
            </a:r>
            <a:r>
              <a:rPr lang="ro-RO" sz="3000" dirty="0" err="1">
                <a:latin typeface="Calibri" pitchFamily="34" charset="0"/>
              </a:rPr>
              <a:t>IoU</a:t>
            </a:r>
            <a:r>
              <a:rPr lang="ro-RO" sz="3000" dirty="0">
                <a:latin typeface="Calibri" pitchFamily="34" charset="0"/>
              </a:rPr>
              <a:t> și F-</a:t>
            </a:r>
            <a:r>
              <a:rPr lang="ro-RO" sz="3000" dirty="0" err="1">
                <a:latin typeface="Calibri" pitchFamily="34" charset="0"/>
              </a:rPr>
              <a:t>measure</a:t>
            </a:r>
            <a:r>
              <a:rPr lang="ro-RO" sz="3000" dirty="0">
                <a:latin typeface="Calibri" pitchFamily="34" charset="0"/>
              </a:rPr>
              <a:t>.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Calibri" pitchFamily="34" charset="0"/>
              </a:rPr>
              <a:t>Metodele </a:t>
            </a:r>
            <a:r>
              <a:rPr lang="ro-RO" sz="3000" dirty="0" err="1">
                <a:latin typeface="Calibri" pitchFamily="34" charset="0"/>
              </a:rPr>
              <a:t>Region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Growing</a:t>
            </a:r>
            <a:r>
              <a:rPr lang="ro-RO" sz="3000" dirty="0">
                <a:latin typeface="Calibri" pitchFamily="34" charset="0"/>
              </a:rPr>
              <a:t> și </a:t>
            </a:r>
            <a:r>
              <a:rPr lang="ro-RO" sz="3000" dirty="0" err="1">
                <a:latin typeface="Calibri" pitchFamily="34" charset="0"/>
              </a:rPr>
              <a:t>Region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Splitting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and</a:t>
            </a:r>
            <a:r>
              <a:rPr lang="ro-RO" sz="3000" dirty="0">
                <a:latin typeface="Calibri" pitchFamily="34" charset="0"/>
              </a:rPr>
              <a:t> </a:t>
            </a:r>
            <a:r>
              <a:rPr lang="ro-RO" sz="3000" dirty="0" err="1">
                <a:latin typeface="Calibri" pitchFamily="34" charset="0"/>
              </a:rPr>
              <a:t>Merging</a:t>
            </a:r>
            <a:r>
              <a:rPr lang="ro-RO" sz="3000" dirty="0">
                <a:latin typeface="Calibri" pitchFamily="34" charset="0"/>
              </a:rPr>
              <a:t> au performat slab, evidențiind limitările lor în cazul imaginilor complexe.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32132" y="2940370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Conclu</a:t>
            </a:r>
            <a:r>
              <a:rPr lang="ro-RO" sz="5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zii</a:t>
            </a:r>
            <a:endParaRPr lang="ro-RO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643781" y="12786519"/>
            <a:ext cx="8407576" cy="37983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450000" algn="just" eaLnBrk="1" hangingPunct="1"/>
            <a:r>
              <a:rPr lang="ro-RO" sz="3200" b="1" dirty="0">
                <a:latin typeface="+mn-lt"/>
              </a:rPr>
              <a:t>Dezvoltarea și evaluarea unui sistem de segmentare automată a celulelor în imagini medicale utilizând tehnici avansate de procesare a imaginii. </a:t>
            </a:r>
          </a:p>
          <a:p>
            <a:pPr indent="450000" algn="just" eaLnBrk="1" hangingPunct="1"/>
            <a:r>
              <a:rPr lang="ro-RO" sz="3200" b="1" dirty="0">
                <a:latin typeface="+mn-lt"/>
              </a:rPr>
              <a:t>Proiectul își propune să furnizeze segmentări precise și robuste pentru a sprijini diagnosticarea și analiza medicală.</a:t>
            </a:r>
            <a:endParaRPr lang="ro-RO" sz="3200" dirty="0">
              <a:latin typeface="+mn-lt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232132" y="168251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Rezultate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3" name="Text Box 180"/>
          <p:cNvSpPr txBox="1">
            <a:spLocks noChangeArrowheads="1"/>
          </p:cNvSpPr>
          <p:nvPr/>
        </p:nvSpPr>
        <p:spPr bwMode="auto">
          <a:xfrm>
            <a:off x="6076168" y="26505512"/>
            <a:ext cx="9474787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1. </a:t>
            </a:r>
            <a:r>
              <a:rPr lang="en-US" sz="2400" b="1" dirty="0" err="1">
                <a:latin typeface="Calibri" pitchFamily="34" charset="0"/>
              </a:rPr>
              <a:t>Metrici</a:t>
            </a:r>
            <a:r>
              <a:rPr lang="en-US" sz="2400" b="1" dirty="0">
                <a:latin typeface="Calibri" pitchFamily="34" charset="0"/>
              </a:rPr>
              <a:t> </a:t>
            </a:r>
            <a:r>
              <a:rPr lang="ro-RO" sz="2400" b="1" dirty="0">
                <a:latin typeface="Calibri" pitchFamily="34" charset="0"/>
              </a:rPr>
              <a:t> de ev</a:t>
            </a:r>
            <a:r>
              <a:rPr lang="en-US" sz="2400" b="1" dirty="0" err="1">
                <a:latin typeface="Calibri" pitchFamily="34" charset="0"/>
              </a:rPr>
              <a:t>aluare</a:t>
            </a:r>
            <a:r>
              <a:rPr lang="en-US" sz="2400" b="1" dirty="0">
                <a:latin typeface="Calibri" pitchFamily="34" charset="0"/>
              </a:rPr>
              <a:t> (media </a:t>
            </a:r>
            <a:r>
              <a:rPr lang="en-US" sz="2400" b="1" dirty="0" err="1">
                <a:latin typeface="Calibri" pitchFamily="34" charset="0"/>
              </a:rPr>
              <a:t>valorilor</a:t>
            </a:r>
            <a:r>
              <a:rPr lang="en-US" sz="2400" b="1" dirty="0">
                <a:latin typeface="Calibri" pitchFamily="34" charset="0"/>
              </a:rPr>
              <a:t> </a:t>
            </a:r>
            <a:r>
              <a:rPr lang="ro-RO" sz="2400" b="1" dirty="0">
                <a:latin typeface="Calibri" pitchFamily="34" charset="0"/>
              </a:rPr>
              <a:t>prelucrând toate imaginile</a:t>
            </a:r>
            <a:r>
              <a:rPr lang="en-US" sz="2400" b="1" dirty="0">
                <a:latin typeface="Calibri" pitchFamily="34" charset="0"/>
              </a:rPr>
              <a:t>)  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37" name="Text Box 180"/>
          <p:cNvSpPr txBox="1">
            <a:spLocks noChangeArrowheads="1"/>
          </p:cNvSpPr>
          <p:nvPr/>
        </p:nvSpPr>
        <p:spPr bwMode="auto">
          <a:xfrm>
            <a:off x="17455337" y="16291719"/>
            <a:ext cx="4924632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Chart 1.</a:t>
            </a:r>
            <a:r>
              <a:rPr lang="en-US" sz="2400" dirty="0">
                <a:latin typeface="Calibri" pitchFamily="34" charset="0"/>
              </a:rPr>
              <a:t>  </a:t>
            </a:r>
            <a:r>
              <a:rPr lang="en-US" sz="2400" dirty="0" err="1">
                <a:latin typeface="Calibri" pitchFamily="34" charset="0"/>
              </a:rPr>
              <a:t>Dispunere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rezultate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tabelul</a:t>
            </a:r>
            <a:r>
              <a:rPr lang="en-US" sz="2400" dirty="0">
                <a:latin typeface="Calibri" pitchFamily="34" charset="0"/>
              </a:rPr>
              <a:t> 2</a:t>
            </a:r>
          </a:p>
        </p:txBody>
      </p:sp>
      <p:pic>
        <p:nvPicPr>
          <p:cNvPr id="6" name="Picture 5" descr="A blue and white logo with a statue of a person sitting on a chair&#10;&#10;Description automatically generated">
            <a:extLst>
              <a:ext uri="{FF2B5EF4-FFF2-40B4-BE49-F238E27FC236}">
                <a16:creationId xmlns:a16="http://schemas.microsoft.com/office/drawing/2014/main" id="{B2646C16-80B3-47A2-3896-FDB98DC24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22" y="680486"/>
            <a:ext cx="2838450" cy="3810000"/>
          </a:xfrm>
          <a:prstGeom prst="rect">
            <a:avLst/>
          </a:prstGeom>
        </p:spPr>
      </p:pic>
      <p:pic>
        <p:nvPicPr>
          <p:cNvPr id="8" name="Picture 7" descr="A circular logo with numbers and letters&#10;&#10;Description automatically generated">
            <a:extLst>
              <a:ext uri="{FF2B5EF4-FFF2-40B4-BE49-F238E27FC236}">
                <a16:creationId xmlns:a16="http://schemas.microsoft.com/office/drawing/2014/main" id="{48F548D3-0E8A-A4AB-9DBE-A88E2FE2C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8337" y="1013619"/>
            <a:ext cx="2857500" cy="2857500"/>
          </a:xfrm>
          <a:prstGeom prst="rect">
            <a:avLst/>
          </a:prstGeom>
        </p:spPr>
      </p:pic>
      <p:pic>
        <p:nvPicPr>
          <p:cNvPr id="18" name="Picture 17" descr="A white dots on a black background&#10;&#10;Description automatically generated">
            <a:extLst>
              <a:ext uri="{FF2B5EF4-FFF2-40B4-BE49-F238E27FC236}">
                <a16:creationId xmlns:a16="http://schemas.microsoft.com/office/drawing/2014/main" id="{88D1F955-BA03-CCF5-15F2-86C601A93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768" y="22616279"/>
            <a:ext cx="2438400" cy="2438400"/>
          </a:xfrm>
          <a:prstGeom prst="rect">
            <a:avLst/>
          </a:prstGeom>
        </p:spPr>
      </p:pic>
      <p:pic>
        <p:nvPicPr>
          <p:cNvPr id="20" name="Picture 19" descr="A close-up of purple cells&#10;&#10;Description automatically generated">
            <a:extLst>
              <a:ext uri="{FF2B5EF4-FFF2-40B4-BE49-F238E27FC236}">
                <a16:creationId xmlns:a16="http://schemas.microsoft.com/office/drawing/2014/main" id="{1477207F-B52B-0EDE-7458-D98D9D753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168" y="22616279"/>
            <a:ext cx="3048000" cy="2438400"/>
          </a:xfrm>
          <a:prstGeom prst="rect">
            <a:avLst/>
          </a:prstGeom>
        </p:spPr>
      </p:pic>
      <p:pic>
        <p:nvPicPr>
          <p:cNvPr id="22" name="Picture 21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CFEF2BDD-9656-5929-120B-68273C567B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168" y="19949279"/>
            <a:ext cx="2438400" cy="2438400"/>
          </a:xfrm>
          <a:prstGeom prst="rect">
            <a:avLst/>
          </a:prstGeom>
        </p:spPr>
      </p:pic>
      <p:pic>
        <p:nvPicPr>
          <p:cNvPr id="28" name="Picture 27" descr="A group of cells under a microscope&#10;&#10;Description automatically generated">
            <a:extLst>
              <a:ext uri="{FF2B5EF4-FFF2-40B4-BE49-F238E27FC236}">
                <a16:creationId xmlns:a16="http://schemas.microsoft.com/office/drawing/2014/main" id="{BF7EAA7D-DFD8-5E42-A2EA-976352A9A6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168" y="19865830"/>
            <a:ext cx="2598049" cy="2598049"/>
          </a:xfrm>
          <a:prstGeom prst="rect">
            <a:avLst/>
          </a:prstGeom>
        </p:spPr>
      </p:pic>
      <p:pic>
        <p:nvPicPr>
          <p:cNvPr id="38" name="Picture 37" descr="A close-up of a microscope&#10;&#10;Description automatically generated">
            <a:extLst>
              <a:ext uri="{FF2B5EF4-FFF2-40B4-BE49-F238E27FC236}">
                <a16:creationId xmlns:a16="http://schemas.microsoft.com/office/drawing/2014/main" id="{B2A6954F-9E02-13F4-EFA0-6E41FD9FAD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768" y="19896093"/>
            <a:ext cx="3048000" cy="2438400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EF17F7E-AF98-75DD-F6CF-560975E3F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624436"/>
              </p:ext>
            </p:extLst>
          </p:nvPr>
        </p:nvGraphicFramePr>
        <p:xfrm>
          <a:off x="1627568" y="32331592"/>
          <a:ext cx="1803073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316">
                  <a:extLst>
                    <a:ext uri="{9D8B030D-6E8A-4147-A177-3AD203B41FA5}">
                      <a16:colId xmlns:a16="http://schemas.microsoft.com/office/drawing/2014/main" val="577315484"/>
                    </a:ext>
                  </a:extLst>
                </a:gridCol>
                <a:gridCol w="2978225">
                  <a:extLst>
                    <a:ext uri="{9D8B030D-6E8A-4147-A177-3AD203B41FA5}">
                      <a16:colId xmlns:a16="http://schemas.microsoft.com/office/drawing/2014/main" val="4092404274"/>
                    </a:ext>
                  </a:extLst>
                </a:gridCol>
                <a:gridCol w="1889799">
                  <a:extLst>
                    <a:ext uri="{9D8B030D-6E8A-4147-A177-3AD203B41FA5}">
                      <a16:colId xmlns:a16="http://schemas.microsoft.com/office/drawing/2014/main" val="3188942173"/>
                    </a:ext>
                  </a:extLst>
                </a:gridCol>
                <a:gridCol w="3365891">
                  <a:extLst>
                    <a:ext uri="{9D8B030D-6E8A-4147-A177-3AD203B41FA5}">
                      <a16:colId xmlns:a16="http://schemas.microsoft.com/office/drawing/2014/main" val="2164387635"/>
                    </a:ext>
                  </a:extLst>
                </a:gridCol>
                <a:gridCol w="2569449">
                  <a:extLst>
                    <a:ext uri="{9D8B030D-6E8A-4147-A177-3AD203B41FA5}">
                      <a16:colId xmlns:a16="http://schemas.microsoft.com/office/drawing/2014/main" val="2610926847"/>
                    </a:ext>
                  </a:extLst>
                </a:gridCol>
                <a:gridCol w="4110058">
                  <a:extLst>
                    <a:ext uri="{9D8B030D-6E8A-4147-A177-3AD203B41FA5}">
                      <a16:colId xmlns:a16="http://schemas.microsoft.com/office/drawing/2014/main" val="2745531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Soluții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Thresholding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and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Otsu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Watershed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Clustering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with</a:t>
                      </a:r>
                      <a:r>
                        <a:rPr lang="ro-RO" sz="3200" dirty="0"/>
                        <a:t> K-</a:t>
                      </a:r>
                      <a:r>
                        <a:rPr lang="ro-RO" sz="3200" dirty="0" err="1"/>
                        <a:t>means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Region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Growing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Region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Splitting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and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Mearging</a:t>
                      </a:r>
                      <a:endParaRPr lang="ro-RO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27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Pixel </a:t>
                      </a:r>
                      <a:r>
                        <a:rPr lang="ro-RO" sz="3200" dirty="0" err="1"/>
                        <a:t>Accuracy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74,17%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9,16%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15,17%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7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Intersection</a:t>
                      </a:r>
                      <a:r>
                        <a:rPr lang="ro-RO" sz="3200" dirty="0"/>
                        <a:t> over 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84,53%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1,05%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14,41%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1,05%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129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Precision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25,53%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49,85%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24,02%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71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Recall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64,41%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16,9%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13,21%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16,97%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4,35%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9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F-</a:t>
                      </a:r>
                      <a:r>
                        <a:rPr lang="ro-RO" sz="3200" dirty="0" err="1"/>
                        <a:t>measure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84,53%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1,05%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14,415%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1,05%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75331"/>
                  </a:ext>
                </a:extLst>
              </a:tr>
            </a:tbl>
          </a:graphicData>
        </a:graphic>
      </p:graphicFrame>
      <p:sp>
        <p:nvSpPr>
          <p:cNvPr id="40" name="Text Box 180">
            <a:extLst>
              <a:ext uri="{FF2B5EF4-FFF2-40B4-BE49-F238E27FC236}">
                <a16:creationId xmlns:a16="http://schemas.microsoft.com/office/drawing/2014/main" id="{50C91FCB-BB76-6030-11EE-24D0AB06F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463" y="31733618"/>
            <a:ext cx="16582887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</a:t>
            </a:r>
            <a:r>
              <a:rPr lang="ro-RO" sz="2400" b="1" dirty="0">
                <a:latin typeface="Calibri" pitchFamily="34" charset="0"/>
              </a:rPr>
              <a:t>2</a:t>
            </a:r>
            <a:r>
              <a:rPr lang="en-US" sz="2400" b="1" dirty="0">
                <a:latin typeface="Calibri" pitchFamily="34" charset="0"/>
              </a:rPr>
              <a:t>. </a:t>
            </a:r>
            <a:r>
              <a:rPr lang="en-US" sz="2400" b="1" dirty="0" err="1">
                <a:latin typeface="Calibri" pitchFamily="34" charset="0"/>
              </a:rPr>
              <a:t>Metrici</a:t>
            </a:r>
            <a:r>
              <a:rPr lang="en-US" sz="2400" b="1" dirty="0">
                <a:latin typeface="Calibri" pitchFamily="34" charset="0"/>
              </a:rPr>
              <a:t>  de </a:t>
            </a:r>
            <a:r>
              <a:rPr lang="ro-RO" sz="2400" b="1" dirty="0">
                <a:latin typeface="Calibri" pitchFamily="34" charset="0"/>
              </a:rPr>
              <a:t>ev</a:t>
            </a:r>
            <a:r>
              <a:rPr lang="en-US" sz="2400" b="1" dirty="0" err="1">
                <a:latin typeface="Calibri" pitchFamily="34" charset="0"/>
              </a:rPr>
              <a:t>aluare</a:t>
            </a:r>
            <a:r>
              <a:rPr lang="en-US" sz="2400" b="1" dirty="0">
                <a:latin typeface="Calibri" pitchFamily="34" charset="0"/>
              </a:rPr>
              <a:t> (</a:t>
            </a:r>
            <a:r>
              <a:rPr lang="en-US" sz="2400" b="1" dirty="0" err="1">
                <a:latin typeface="Calibri" pitchFamily="34" charset="0"/>
              </a:rPr>
              <a:t>procentul</a:t>
            </a:r>
            <a:r>
              <a:rPr lang="en-US" sz="2400" b="1" dirty="0">
                <a:latin typeface="Calibri" pitchFamily="34" charset="0"/>
              </a:rPr>
              <a:t> </a:t>
            </a:r>
            <a:r>
              <a:rPr lang="ro-RO" sz="2400" b="1" dirty="0">
                <a:latin typeface="Calibri" pitchFamily="34" charset="0"/>
              </a:rPr>
              <a:t>în care un algoritm a fost considerat cel mai bun din punct de vedere a metricii urmărite </a:t>
            </a:r>
            <a:r>
              <a:rPr lang="en-US" sz="2400" b="1" dirty="0">
                <a:latin typeface="Calibri" pitchFamily="34" charset="0"/>
              </a:rPr>
              <a:t>)</a:t>
            </a:r>
            <a:endParaRPr lang="en-US" sz="2400" dirty="0">
              <a:latin typeface="Calibri" pitchFamily="34" charset="0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9AAD535-9AA0-1396-EB94-F9F6E029D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885974"/>
              </p:ext>
            </p:extLst>
          </p:nvPr>
        </p:nvGraphicFramePr>
        <p:xfrm>
          <a:off x="1643781" y="27200117"/>
          <a:ext cx="1801452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56">
                  <a:extLst>
                    <a:ext uri="{9D8B030D-6E8A-4147-A177-3AD203B41FA5}">
                      <a16:colId xmlns:a16="http://schemas.microsoft.com/office/drawing/2014/main" val="5773154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92404274"/>
                    </a:ext>
                  </a:extLst>
                </a:gridCol>
                <a:gridCol w="2184504">
                  <a:extLst>
                    <a:ext uri="{9D8B030D-6E8A-4147-A177-3AD203B41FA5}">
                      <a16:colId xmlns:a16="http://schemas.microsoft.com/office/drawing/2014/main" val="3188942173"/>
                    </a:ext>
                  </a:extLst>
                </a:gridCol>
                <a:gridCol w="3362864">
                  <a:extLst>
                    <a:ext uri="{9D8B030D-6E8A-4147-A177-3AD203B41FA5}">
                      <a16:colId xmlns:a16="http://schemas.microsoft.com/office/drawing/2014/main" val="2164387635"/>
                    </a:ext>
                  </a:extLst>
                </a:gridCol>
                <a:gridCol w="2567139">
                  <a:extLst>
                    <a:ext uri="{9D8B030D-6E8A-4147-A177-3AD203B41FA5}">
                      <a16:colId xmlns:a16="http://schemas.microsoft.com/office/drawing/2014/main" val="2610926847"/>
                    </a:ext>
                  </a:extLst>
                </a:gridCol>
                <a:gridCol w="4106362">
                  <a:extLst>
                    <a:ext uri="{9D8B030D-6E8A-4147-A177-3AD203B41FA5}">
                      <a16:colId xmlns:a16="http://schemas.microsoft.com/office/drawing/2014/main" val="2745531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Soluții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Thresholding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and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Otsu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Watershed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Clustering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with</a:t>
                      </a:r>
                      <a:r>
                        <a:rPr lang="ro-RO" sz="3200" dirty="0"/>
                        <a:t> K-</a:t>
                      </a:r>
                      <a:r>
                        <a:rPr lang="ro-RO" sz="3200" dirty="0" err="1"/>
                        <a:t>means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Region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Growing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Region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Splitting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and</a:t>
                      </a:r>
                      <a:r>
                        <a:rPr lang="ro-RO" sz="3200" dirty="0"/>
                        <a:t> </a:t>
                      </a:r>
                      <a:r>
                        <a:rPr lang="ro-RO" sz="3200" dirty="0" err="1"/>
                        <a:t>Mearging</a:t>
                      </a:r>
                      <a:endParaRPr lang="ro-RO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27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Pixel </a:t>
                      </a:r>
                      <a:r>
                        <a:rPr lang="ro-RO" sz="3200" dirty="0" err="1"/>
                        <a:t>Accuracy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96,2%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89,99%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92,84%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83,75%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81,55%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7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Intersection</a:t>
                      </a:r>
                      <a:r>
                        <a:rPr lang="ro-RO" sz="3200" dirty="0"/>
                        <a:t> over 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78,97%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24,47%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53,45%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12,05%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8,17%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129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Precision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86,4%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28,98%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90,44%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47,30%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69,25%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71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 err="1"/>
                        <a:t>Recall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90,85%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74,07%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58,76%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14,68%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15,53%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9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F-</a:t>
                      </a:r>
                      <a:r>
                        <a:rPr lang="ro-RO" sz="3200" dirty="0" err="1"/>
                        <a:t>measure</a:t>
                      </a:r>
                      <a:endParaRPr lang="ro-RO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86,83</a:t>
                      </a:r>
                      <a:r>
                        <a:rPr lang="ro-RO" sz="32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37,70%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66,77</a:t>
                      </a:r>
                      <a:r>
                        <a:rPr lang="ro-RO" sz="32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20,75%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200" dirty="0"/>
                        <a:t>12,14%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75331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EE4B6034-C3A7-3F0B-9866-F6EE6D5CCB4D}"/>
              </a:ext>
            </a:extLst>
          </p:cNvPr>
          <p:cNvSpPr txBox="1"/>
          <p:nvPr/>
        </p:nvSpPr>
        <p:spPr>
          <a:xfrm>
            <a:off x="1261135" y="39756903"/>
            <a:ext cx="7166902" cy="1749813"/>
          </a:xfrm>
          <a:prstGeom prst="rect">
            <a:avLst/>
          </a:prstGeom>
          <a:noFill/>
        </p:spPr>
        <p:txBody>
          <a:bodyPr wrap="square" lIns="86970" tIns="43485" rIns="86970" bIns="43485" rtlCol="0">
            <a:spAutoFit/>
          </a:bodyPr>
          <a:lstStyle/>
          <a:p>
            <a:r>
              <a:rPr lang="ro-RO" sz="5400" b="1" dirty="0"/>
              <a:t>Profesori coordonatori</a:t>
            </a:r>
            <a:r>
              <a:rPr lang="en-US" sz="5400" b="1" dirty="0"/>
              <a:t>:</a:t>
            </a:r>
          </a:p>
          <a:p>
            <a:endParaRPr lang="en-US" sz="5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548CD5-0EED-EB98-EEDE-E6D8FA5C96FB}"/>
              </a:ext>
            </a:extLst>
          </p:cNvPr>
          <p:cNvSpPr txBox="1"/>
          <p:nvPr/>
        </p:nvSpPr>
        <p:spPr>
          <a:xfrm>
            <a:off x="1341437" y="40735835"/>
            <a:ext cx="175703" cy="5494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endParaRPr lang="en-US" sz="3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362AB2-DFCD-AC19-9B0C-08C468E973F8}"/>
              </a:ext>
            </a:extLst>
          </p:cNvPr>
          <p:cNvSpPr txBox="1"/>
          <p:nvPr/>
        </p:nvSpPr>
        <p:spPr>
          <a:xfrm>
            <a:off x="1281553" y="40735835"/>
            <a:ext cx="12821408" cy="14728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 err="1"/>
              <a:t>asoc</a:t>
            </a:r>
            <a:r>
              <a:rPr lang="en-US" sz="3000" dirty="0"/>
              <a:t>. </a:t>
            </a:r>
            <a:r>
              <a:rPr lang="en-US" sz="3000" dirty="0" err="1"/>
              <a:t>ing</a:t>
            </a:r>
            <a:r>
              <a:rPr lang="en-US" sz="3000" dirty="0"/>
              <a:t>. </a:t>
            </a:r>
            <a:r>
              <a:rPr lang="en-US" sz="3000" dirty="0" err="1"/>
              <a:t>Maftei</a:t>
            </a:r>
            <a:r>
              <a:rPr lang="en-US" sz="3000" dirty="0"/>
              <a:t> Elena-Claudia</a:t>
            </a:r>
          </a:p>
          <a:p>
            <a:r>
              <a:rPr lang="en-US" sz="3000" dirty="0" err="1"/>
              <a:t>ș.l</a:t>
            </a:r>
            <a:r>
              <a:rPr lang="en-US" sz="3000" dirty="0"/>
              <a:t>. </a:t>
            </a:r>
            <a:r>
              <a:rPr lang="en-US" sz="3000" dirty="0" err="1"/>
              <a:t>dr.ing</a:t>
            </a:r>
            <a:r>
              <a:rPr lang="en-US" sz="3000" dirty="0"/>
              <a:t>. </a:t>
            </a:r>
            <a:r>
              <a:rPr lang="en-US" sz="3000" dirty="0" err="1"/>
              <a:t>Zvorișteanu</a:t>
            </a:r>
            <a:r>
              <a:rPr lang="en-US" sz="3000" dirty="0"/>
              <a:t> Otilia	</a:t>
            </a:r>
          </a:p>
          <a:p>
            <a:r>
              <a:rPr lang="en-US" sz="3000" dirty="0" err="1"/>
              <a:t>ș.l</a:t>
            </a:r>
            <a:r>
              <a:rPr lang="en-US" sz="3000" dirty="0"/>
              <a:t>. </a:t>
            </a:r>
            <a:r>
              <a:rPr lang="en-US" sz="3000" dirty="0" err="1"/>
              <a:t>dr.ing</a:t>
            </a:r>
            <a:r>
              <a:rPr lang="en-US" sz="3000" dirty="0"/>
              <a:t>. </a:t>
            </a:r>
            <a:r>
              <a:rPr lang="en-US" sz="3000" dirty="0" err="1"/>
              <a:t>Achirei</a:t>
            </a:r>
            <a:r>
              <a:rPr lang="en-US" sz="3000" dirty="0"/>
              <a:t> </a:t>
            </a:r>
            <a:r>
              <a:rPr lang="en-US" sz="3000" dirty="0" err="1"/>
              <a:t>Ștefan</a:t>
            </a:r>
            <a:r>
              <a:rPr lang="en-US" sz="3000" dirty="0"/>
              <a:t>-Daniel		</a:t>
            </a:r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3C0B2885-1369-6488-B468-BF088FB067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312341"/>
              </p:ext>
            </p:extLst>
          </p:nvPr>
        </p:nvGraphicFramePr>
        <p:xfrm>
          <a:off x="11195596" y="6196690"/>
          <a:ext cx="17444112" cy="10221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84872D6A-5A8F-5C3E-852B-DF9268C25098}"/>
              </a:ext>
            </a:extLst>
          </p:cNvPr>
          <p:cNvSpPr/>
          <p:nvPr/>
        </p:nvSpPr>
        <p:spPr>
          <a:xfrm>
            <a:off x="11221861" y="209399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Metode</a:t>
            </a:r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de </a:t>
            </a:r>
            <a:r>
              <a:rPr lang="en-US" sz="5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evaluare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0" name="Text Box 191">
            <a:extLst>
              <a:ext uri="{FF2B5EF4-FFF2-40B4-BE49-F238E27FC236}">
                <a16:creationId xmlns:a16="http://schemas.microsoft.com/office/drawing/2014/main" id="{A73AF5F8-7C60-8DF5-7440-930B4911F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1861" y="21854319"/>
            <a:ext cx="8407576" cy="466014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457200" algn="just" eaLnBrk="1" hangingPunct="1"/>
            <a:r>
              <a:rPr lang="ro-RO" sz="2800" dirty="0">
                <a:latin typeface="Calibri" pitchFamily="34" charset="0"/>
              </a:rPr>
              <a:t>Performanțele algoritmilor au fost evaluate utilizând următoarele metrici: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2800" dirty="0">
                <a:latin typeface="Calibri" pitchFamily="34" charset="0"/>
              </a:rPr>
              <a:t>    Pixel </a:t>
            </a:r>
            <a:r>
              <a:rPr lang="ro-RO" sz="2800" dirty="0" err="1">
                <a:latin typeface="Calibri" pitchFamily="34" charset="0"/>
              </a:rPr>
              <a:t>Accuracy</a:t>
            </a:r>
            <a:r>
              <a:rPr lang="ro-RO" sz="2800" dirty="0">
                <a:latin typeface="Calibri" pitchFamily="34" charset="0"/>
              </a:rPr>
              <a:t> (Acuratețea la nivel de pixel)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2800" dirty="0">
                <a:latin typeface="Calibri" pitchFamily="34" charset="0"/>
              </a:rPr>
              <a:t>    </a:t>
            </a:r>
            <a:r>
              <a:rPr lang="ro-RO" sz="2800" dirty="0" err="1">
                <a:latin typeface="Calibri" pitchFamily="34" charset="0"/>
              </a:rPr>
              <a:t>IoU</a:t>
            </a:r>
            <a:r>
              <a:rPr lang="ro-RO" sz="2800" dirty="0">
                <a:latin typeface="Calibri" pitchFamily="34" charset="0"/>
              </a:rPr>
              <a:t> (</a:t>
            </a:r>
            <a:r>
              <a:rPr lang="ro-RO" sz="2800" dirty="0" err="1">
                <a:latin typeface="Calibri" pitchFamily="34" charset="0"/>
              </a:rPr>
              <a:t>Intersection</a:t>
            </a:r>
            <a:r>
              <a:rPr lang="ro-RO" sz="2800" dirty="0">
                <a:latin typeface="Calibri" pitchFamily="34" charset="0"/>
              </a:rPr>
              <a:t> over Union)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2800" dirty="0">
                <a:latin typeface="Calibri" pitchFamily="34" charset="0"/>
              </a:rPr>
              <a:t>    </a:t>
            </a:r>
            <a:r>
              <a:rPr lang="ro-RO" sz="2800" dirty="0" err="1">
                <a:latin typeface="Calibri" pitchFamily="34" charset="0"/>
              </a:rPr>
              <a:t>Preci</a:t>
            </a:r>
            <a:r>
              <a:rPr lang="en-US" sz="2800" dirty="0" err="1">
                <a:latin typeface="Calibri" pitchFamily="34" charset="0"/>
              </a:rPr>
              <a:t>sion:cât</a:t>
            </a:r>
            <a:r>
              <a:rPr lang="en-US" sz="2800" dirty="0">
                <a:latin typeface="Calibri" pitchFamily="34" charset="0"/>
              </a:rPr>
              <a:t> de </a:t>
            </a:r>
            <a:r>
              <a:rPr lang="en-US" sz="2800" dirty="0" err="1">
                <a:latin typeface="Calibri" pitchFamily="34" charset="0"/>
              </a:rPr>
              <a:t>multe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dintre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predicțiile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pozitive</a:t>
            </a:r>
            <a:r>
              <a:rPr lang="en-US" sz="2800" dirty="0">
                <a:latin typeface="Calibri" pitchFamily="34" charset="0"/>
              </a:rPr>
              <a:t> ale </a:t>
            </a:r>
            <a:r>
              <a:rPr lang="en-US" sz="2800" dirty="0" err="1">
                <a:latin typeface="Calibri" pitchFamily="34" charset="0"/>
              </a:rPr>
              <a:t>modelului</a:t>
            </a:r>
            <a:r>
              <a:rPr lang="en-US" sz="2800" dirty="0">
                <a:latin typeface="Calibri" pitchFamily="34" charset="0"/>
              </a:rPr>
              <a:t> sunt </a:t>
            </a:r>
            <a:r>
              <a:rPr lang="en-US" sz="2800" dirty="0" err="1">
                <a:latin typeface="Calibri" pitchFamily="34" charset="0"/>
              </a:rPr>
              <a:t>corecte</a:t>
            </a:r>
            <a:r>
              <a:rPr lang="en-US" sz="2800" dirty="0">
                <a:latin typeface="Calibri" pitchFamily="34" charset="0"/>
              </a:rPr>
              <a:t>. </a:t>
            </a:r>
            <a:endParaRPr lang="ro-RO" sz="2800" dirty="0">
              <a:latin typeface="Calibri" pitchFamily="34" charset="0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2800" dirty="0">
                <a:latin typeface="Calibri" pitchFamily="34" charset="0"/>
              </a:rPr>
              <a:t>    </a:t>
            </a:r>
            <a:r>
              <a:rPr lang="ro-RO" sz="2800" dirty="0" err="1">
                <a:latin typeface="Calibri" pitchFamily="34" charset="0"/>
              </a:rPr>
              <a:t>Recall</a:t>
            </a:r>
            <a:r>
              <a:rPr lang="en-US" sz="2800" dirty="0">
                <a:latin typeface="Calibri" pitchFamily="34" charset="0"/>
              </a:rPr>
              <a:t>:</a:t>
            </a:r>
            <a:r>
              <a:rPr lang="en-US" sz="2800" dirty="0" err="1">
                <a:latin typeface="Calibri" pitchFamily="34" charset="0"/>
              </a:rPr>
              <a:t>măsoară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cât</a:t>
            </a:r>
            <a:r>
              <a:rPr lang="en-US" sz="2800" dirty="0">
                <a:latin typeface="Calibri" pitchFamily="34" charset="0"/>
              </a:rPr>
              <a:t> de </a:t>
            </a:r>
            <a:r>
              <a:rPr lang="en-US" sz="2800" dirty="0" err="1">
                <a:latin typeface="Calibri" pitchFamily="34" charset="0"/>
              </a:rPr>
              <a:t>multe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dintre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exemplele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pozitive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reale</a:t>
            </a:r>
            <a:r>
              <a:rPr lang="en-US" sz="2800" dirty="0">
                <a:latin typeface="Calibri" pitchFamily="34" charset="0"/>
              </a:rPr>
              <a:t> sunt </a:t>
            </a:r>
            <a:r>
              <a:rPr lang="en-US" sz="2800" dirty="0" err="1">
                <a:latin typeface="Calibri" pitchFamily="34" charset="0"/>
              </a:rPr>
              <a:t>corect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identificate</a:t>
            </a:r>
            <a:r>
              <a:rPr lang="en-US" sz="2800" dirty="0">
                <a:latin typeface="Calibri" pitchFamily="34" charset="0"/>
              </a:rPr>
              <a:t> de model.</a:t>
            </a:r>
            <a:endParaRPr lang="ro-RO" sz="2800" dirty="0">
              <a:latin typeface="Calibri" pitchFamily="34" charset="0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ro-RO" sz="2800" dirty="0">
                <a:latin typeface="Calibri" pitchFamily="34" charset="0"/>
              </a:rPr>
              <a:t>    F-</a:t>
            </a:r>
            <a:r>
              <a:rPr lang="ro-RO" sz="2800" dirty="0" err="1">
                <a:latin typeface="Calibri" pitchFamily="34" charset="0"/>
              </a:rPr>
              <a:t>measure</a:t>
            </a:r>
            <a:r>
              <a:rPr lang="en-US" sz="2800" dirty="0">
                <a:latin typeface="Calibri" pitchFamily="34" charset="0"/>
              </a:rPr>
              <a:t>:</a:t>
            </a:r>
            <a:r>
              <a:rPr lang="en-US" sz="2800" dirty="0" err="1">
                <a:latin typeface="Calibri" pitchFamily="34" charset="0"/>
              </a:rPr>
              <a:t>utilă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atunci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când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dorim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să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avem</a:t>
            </a:r>
            <a:r>
              <a:rPr lang="en-US" sz="2800" dirty="0">
                <a:latin typeface="Calibri" pitchFamily="34" charset="0"/>
              </a:rPr>
              <a:t> un </a:t>
            </a:r>
            <a:r>
              <a:rPr lang="en-US" sz="2800" dirty="0" err="1">
                <a:latin typeface="Calibri" pitchFamily="34" charset="0"/>
              </a:rPr>
              <a:t>echilibru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între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precizie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și</a:t>
            </a:r>
            <a:r>
              <a:rPr lang="en-US" sz="2800" dirty="0">
                <a:latin typeface="Calibri" pitchFamily="34" charset="0"/>
              </a:rPr>
              <a:t> recall. 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20A2069-A71D-5C6A-DF07-46A2F02ABC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86837" y="17936439"/>
            <a:ext cx="2046568" cy="197251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7D12DF2-E888-07FB-A9B6-B453B37AB8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65741" y="17870019"/>
            <a:ext cx="2231346" cy="215983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135C8C6-EF1C-E480-087D-E0C77BC99A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60222" y="21473838"/>
            <a:ext cx="2699798" cy="215983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E4CE02F-5D70-B5FB-383F-9C5F610D73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5331" y="24873310"/>
            <a:ext cx="2681178" cy="215983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7EA4AB4-E845-8610-E30F-E170A5EEA6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20412" y="21161289"/>
            <a:ext cx="2722004" cy="2714745"/>
          </a:xfrm>
          <a:prstGeom prst="rect">
            <a:avLst/>
          </a:prstGeom>
        </p:spPr>
      </p:pic>
      <p:sp>
        <p:nvSpPr>
          <p:cNvPr id="77" name="Text Box 191">
            <a:extLst>
              <a:ext uri="{FF2B5EF4-FFF2-40B4-BE49-F238E27FC236}">
                <a16:creationId xmlns:a16="http://schemas.microsoft.com/office/drawing/2014/main" id="{FEC080A8-3200-82EC-B283-8F0C6B9F7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15918" y="17700121"/>
            <a:ext cx="8407576" cy="10507904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000" dirty="0">
                <a:latin typeface="Calibri" pitchFamily="34" charset="0"/>
              </a:rPr>
              <a:t>    </a:t>
            </a:r>
            <a:r>
              <a:rPr lang="en-US" sz="3000" dirty="0" err="1">
                <a:latin typeface="Calibri" pitchFamily="34" charset="0"/>
              </a:rPr>
              <a:t>Figura</a:t>
            </a:r>
            <a:r>
              <a:rPr lang="en-US" sz="3000" dirty="0">
                <a:latin typeface="Calibri" pitchFamily="34" charset="0"/>
              </a:rPr>
              <a:t> 2:Region Growing        </a:t>
            </a:r>
            <a:r>
              <a:rPr lang="en-US" sz="3000" dirty="0" err="1">
                <a:latin typeface="Calibri" pitchFamily="34" charset="0"/>
              </a:rPr>
              <a:t>Figura</a:t>
            </a:r>
            <a:r>
              <a:rPr lang="en-US" sz="3000" dirty="0">
                <a:latin typeface="Calibri" pitchFamily="34" charset="0"/>
              </a:rPr>
              <a:t> 3:Region 	   splitting and merging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000" dirty="0">
                <a:latin typeface="Calibri" pitchFamily="34" charset="0"/>
              </a:rPr>
              <a:t>       </a:t>
            </a:r>
            <a:r>
              <a:rPr lang="en-US" sz="3000" dirty="0" err="1">
                <a:latin typeface="Calibri" pitchFamily="34" charset="0"/>
              </a:rPr>
              <a:t>Figura</a:t>
            </a:r>
            <a:r>
              <a:rPr lang="en-US" sz="3000" dirty="0">
                <a:latin typeface="Calibri" pitchFamily="34" charset="0"/>
              </a:rPr>
              <a:t> 4: Thresholding     </a:t>
            </a:r>
            <a:r>
              <a:rPr lang="en-US" sz="3000" dirty="0" err="1">
                <a:latin typeface="Calibri" pitchFamily="34" charset="0"/>
              </a:rPr>
              <a:t>Figura</a:t>
            </a:r>
            <a:r>
              <a:rPr lang="en-US" sz="3000" dirty="0">
                <a:latin typeface="Calibri" pitchFamily="34" charset="0"/>
              </a:rPr>
              <a:t> 5: Clustering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                   and Otsu                       with K-means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000" dirty="0">
                <a:latin typeface="Calibri" pitchFamily="34" charset="0"/>
              </a:rPr>
              <a:t>                             </a:t>
            </a:r>
            <a:r>
              <a:rPr lang="en-US" sz="3000" dirty="0" err="1">
                <a:latin typeface="Calibri" pitchFamily="34" charset="0"/>
              </a:rPr>
              <a:t>Figura</a:t>
            </a:r>
            <a:r>
              <a:rPr lang="en-US" sz="3000" dirty="0">
                <a:latin typeface="Calibri" pitchFamily="34" charset="0"/>
              </a:rPr>
              <a:t> 6: Watershed</a:t>
            </a: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594</Words>
  <Application>Microsoft Office PowerPoint</Application>
  <PresentationFormat>Custom</PresentationFormat>
  <Paragraphs>159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Marina Agavriloaei</cp:lastModifiedBy>
  <cp:revision>64</cp:revision>
  <cp:lastPrinted>2013-02-12T02:21:55Z</cp:lastPrinted>
  <dcterms:created xsi:type="dcterms:W3CDTF">2013-02-10T21:14:48Z</dcterms:created>
  <dcterms:modified xsi:type="dcterms:W3CDTF">2025-01-08T20:52:45Z</dcterms:modified>
</cp:coreProperties>
</file>